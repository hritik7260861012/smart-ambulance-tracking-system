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69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0C9E0-8FD6-4137-A51A-684E5FDEB64F}" v="51" dt="2026-04-10T14:19:02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s://bit.ly/3A1uf1Q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-23040" y="0"/>
            <a:ext cx="9189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3455640"/>
            <a:ext cx="8686440" cy="12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35400" y="2362680"/>
            <a:ext cx="6575760" cy="137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47;p11"/>
          <p:cNvPicPr/>
          <p:nvPr/>
        </p:nvPicPr>
        <p:blipFill>
          <a:blip r:embed="rId2"/>
          <a:srcRect t="3115" b="-4959"/>
          <a:stretch/>
        </p:blipFill>
        <p:spPr>
          <a:xfrm flipH="1">
            <a:off x="4419720" y="-4718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oogle Shape;48;p11"/>
          <p:cNvPicPr/>
          <p:nvPr/>
        </p:nvPicPr>
        <p:blipFill>
          <a:blip r:embed="rId3"/>
          <a:srcRect l="6383" r="6393"/>
          <a:stretch/>
        </p:blipFill>
        <p:spPr>
          <a:xfrm flipH="1">
            <a:off x="5565960" y="-340560"/>
            <a:ext cx="8813520" cy="5851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446840" y="614880"/>
            <a:ext cx="6915960" cy="184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" name="Google Shape;53;p13"/>
          <p:cNvPicPr/>
          <p:nvPr/>
        </p:nvPicPr>
        <p:blipFill>
          <a:blip r:embed="rId2"/>
          <a:srcRect t="3115" b="-4959"/>
          <a:stretch/>
        </p:blipFill>
        <p:spPr>
          <a:xfrm>
            <a:off x="-5568840" y="-26053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54;p13"/>
          <p:cNvPicPr/>
          <p:nvPr/>
        </p:nvPicPr>
        <p:blipFill>
          <a:blip r:embed="rId3"/>
          <a:srcRect l="6383" r="6393"/>
          <a:stretch/>
        </p:blipFill>
        <p:spPr>
          <a:xfrm>
            <a:off x="-3469680" y="177264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4888800" y="0"/>
            <a:ext cx="425520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228600" y="3364920"/>
            <a:ext cx="4342680" cy="127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3" name="Google Shape;59;p14"/>
          <p:cNvPicPr/>
          <p:nvPr/>
        </p:nvPicPr>
        <p:blipFill>
          <a:blip r:embed="rId2"/>
          <a:srcRect t="8325" b="8325"/>
          <a:stretch/>
        </p:blipFill>
        <p:spPr>
          <a:xfrm>
            <a:off x="-2659680" y="-4391280"/>
            <a:ext cx="8353440" cy="6962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4187160" y="3023640"/>
            <a:ext cx="4243320" cy="16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628560" y="3089880"/>
            <a:ext cx="1940760" cy="16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64;p15"/>
          <p:cNvSpPr/>
          <p:nvPr/>
        </p:nvSpPr>
        <p:spPr>
          <a:xfrm>
            <a:off x="4708440" y="539640"/>
            <a:ext cx="3721680" cy="10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65;p15"/>
          <p:cNvSpPr/>
          <p:nvPr/>
        </p:nvSpPr>
        <p:spPr>
          <a:xfrm>
            <a:off x="4708440" y="1822320"/>
            <a:ext cx="3721680" cy="278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7;p16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0" y="44316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2918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310320" y="3891960"/>
            <a:ext cx="852336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72;p17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4696920" y="-25909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4885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5208120" y="2760120"/>
            <a:ext cx="3706920" cy="188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275720" y="2525400"/>
            <a:ext cx="4639680" cy="217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-6840" y="-360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228600" y="3655080"/>
            <a:ext cx="4378320" cy="94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83;p20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586400" y="-35388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84;p20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1513800" y="-622008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1639080"/>
            <a:ext cx="5357160" cy="132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87;p20"/>
          <p:cNvSpPr/>
          <p:nvPr/>
        </p:nvSpPr>
        <p:spPr>
          <a:xfrm>
            <a:off x="713160" y="4048560"/>
            <a:ext cx="5357160" cy="43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  <a:hlinkClick r:id="rId4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  <a:hlinkClick r:id="rId5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228960" y="3153240"/>
            <a:ext cx="836568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228960" y="2219760"/>
            <a:ext cx="1366920" cy="103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89;p21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023720" y="1527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90;p21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4385520" y="-4385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92;p22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586400" y="-35388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93;p22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1513800" y="-622008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228600" y="521280"/>
            <a:ext cx="8686440" cy="299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228600" y="3809880"/>
            <a:ext cx="8686440" cy="83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2" name="Google Shape;20;p4"/>
          <p:cNvPicPr/>
          <p:nvPr/>
        </p:nvPicPr>
        <p:blipFill>
          <a:blip r:embed="rId2"/>
          <a:srcRect l="6383" r="6393"/>
          <a:stretch/>
        </p:blipFill>
        <p:spPr>
          <a:xfrm rot="10800000" flipH="1">
            <a:off x="4023720" y="1527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21;p4"/>
          <p:cNvPicPr/>
          <p:nvPr/>
        </p:nvPicPr>
        <p:blipFill>
          <a:blip r:embed="rId3"/>
          <a:srcRect t="3115" b="-4959"/>
          <a:stretch/>
        </p:blipFill>
        <p:spPr>
          <a:xfrm rot="10800000" flipH="1">
            <a:off x="4385520" y="-438552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8600" y="3983400"/>
            <a:ext cx="77036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3983400"/>
            <a:ext cx="7703640" cy="65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29;p7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-4774680" y="-782424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>
            <a:off x="5900400" y="0"/>
            <a:ext cx="32432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228600" y="3809880"/>
            <a:ext cx="5222520" cy="83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61440" y="1756800"/>
            <a:ext cx="3672360" cy="162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0" name="Google Shape;35;p8"/>
          <p:cNvPicPr/>
          <p:nvPr/>
        </p:nvPicPr>
        <p:blipFill>
          <a:blip r:embed="rId2"/>
          <a:srcRect t="3115" b="-4959"/>
          <a:stretch/>
        </p:blipFill>
        <p:spPr>
          <a:xfrm flipH="1">
            <a:off x="3021120" y="-194220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36;p8"/>
          <p:cNvPicPr/>
          <p:nvPr/>
        </p:nvPicPr>
        <p:blipFill>
          <a:blip r:embed="rId3"/>
          <a:srcRect l="6383" r="6393"/>
          <a:stretch/>
        </p:blipFill>
        <p:spPr>
          <a:xfrm flipH="1">
            <a:off x="4167720" y="2436120"/>
            <a:ext cx="8813520" cy="5851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38;p9"/>
          <p:cNvPicPr/>
          <p:nvPr/>
        </p:nvPicPr>
        <p:blipFill>
          <a:blip r:embed="rId2"/>
          <a:srcRect t="3115" b="-4959"/>
          <a:stretch/>
        </p:blipFill>
        <p:spPr>
          <a:xfrm rot="10800000" flipH="1">
            <a:off x="4020840" y="-2622240"/>
            <a:ext cx="12059280" cy="1228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67640" y="677880"/>
            <a:ext cx="6408720" cy="181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4969080" y="3721320"/>
            <a:ext cx="3946320" cy="88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99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0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09;p27"/>
          <p:cNvPicPr/>
          <p:nvPr/>
        </p:nvPicPr>
        <p:blipFill>
          <a:blip r:embed="rId2"/>
          <a:stretch/>
        </p:blipFill>
        <p:spPr>
          <a:xfrm>
            <a:off x="-153670" y="2384"/>
            <a:ext cx="9318408" cy="51613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33306" y="3353"/>
            <a:ext cx="8686440" cy="1247257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sng" dirty="0">
                <a:solidFill>
                  <a:schemeClr val="bg2">
                    <a:lumMod val="76000"/>
                  </a:schemeClr>
                </a:solidFill>
                <a:highlight>
                  <a:srgbClr val="C0C0C0"/>
                </a:highlight>
                <a:latin typeface="Bai Jamjuree"/>
              </a:rPr>
              <a:t>Smart Ambulance</a:t>
            </a:r>
            <a:endParaRPr lang="fr-FR" sz="5000" b="1" u="sng">
              <a:solidFill>
                <a:schemeClr val="bg2">
                  <a:lumMod val="76000"/>
                </a:schemeClr>
              </a:solidFill>
              <a:highlight>
                <a:srgbClr val="C0C0C0"/>
              </a:highlight>
              <a:latin typeface="Bai Jamjure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281117" y="5050368"/>
            <a:ext cx="5379825" cy="607767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u="none" strike="noStrike" dirty="0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241DB-5432-3532-76CB-170666CB81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C640D8-4F19-17C5-556C-FB25855D34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3892550"/>
            <a:ext cx="1962150" cy="1308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B2F592-1809-4D01-A279-282AC8BA0079}"/>
              </a:ext>
            </a:extLst>
          </p:cNvPr>
          <p:cNvSpPr txBox="1"/>
          <p:nvPr/>
        </p:nvSpPr>
        <p:spPr>
          <a:xfrm>
            <a:off x="-4605" y="3804264"/>
            <a:ext cx="4566978" cy="1237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dirty="0">
                <a:solidFill>
                  <a:schemeClr val="bg2">
                    <a:lumMod val="49000"/>
                  </a:schemeClr>
                </a:solidFill>
                <a:highlight>
                  <a:srgbClr val="F5F5F5"/>
                </a:highlight>
              </a:rPr>
              <a:t>NAME:- HRITIK SINGH &amp; ROHIT KUMAR</a:t>
            </a:r>
            <a:endParaRPr lang="en-US" b="1" u="sng">
              <a:solidFill>
                <a:schemeClr val="bg2">
                  <a:lumMod val="49000"/>
                </a:schemeClr>
              </a:solidFill>
              <a:highlight>
                <a:srgbClr val="F5F5F5"/>
              </a:highlight>
              <a:cs typeface="Arial"/>
            </a:endParaRPr>
          </a:p>
          <a:p>
            <a:r>
              <a:rPr lang="en-US" b="1" u="sng" dirty="0">
                <a:solidFill>
                  <a:schemeClr val="bg2">
                    <a:lumMod val="49000"/>
                  </a:schemeClr>
                </a:solidFill>
                <a:highlight>
                  <a:srgbClr val="F5F5F5"/>
                </a:highlight>
              </a:rPr>
              <a:t>ENR. NO. :-0201230163 &amp; 0201230262</a:t>
            </a:r>
            <a:endParaRPr lang="en-US" b="1" u="sng">
              <a:solidFill>
                <a:schemeClr val="bg2">
                  <a:lumMod val="49000"/>
                </a:schemeClr>
              </a:solidFill>
              <a:highlight>
                <a:srgbClr val="F5F5F5"/>
              </a:highlight>
              <a:cs typeface="Arial"/>
            </a:endParaRPr>
          </a:p>
          <a:p>
            <a:r>
              <a:rPr lang="en-US" b="1" u="sng" dirty="0">
                <a:solidFill>
                  <a:schemeClr val="bg2">
                    <a:lumMod val="49000"/>
                  </a:schemeClr>
                </a:solidFill>
                <a:highlight>
                  <a:srgbClr val="F5F5F5"/>
                </a:highlight>
              </a:rPr>
              <a:t>COURSE:- B.TECH(CSE)</a:t>
            </a:r>
            <a:endParaRPr lang="en-US" b="1" u="sng">
              <a:solidFill>
                <a:schemeClr val="bg2">
                  <a:lumMod val="49000"/>
                </a:schemeClr>
              </a:solidFill>
              <a:highlight>
                <a:srgbClr val="F5F5F5"/>
              </a:highlight>
              <a:cs typeface="Arial"/>
            </a:endParaRPr>
          </a:p>
          <a:p>
            <a:r>
              <a:rPr lang="en-US" b="1" u="sng" dirty="0">
                <a:solidFill>
                  <a:schemeClr val="bg2">
                    <a:lumMod val="49000"/>
                  </a:schemeClr>
                </a:solidFill>
                <a:highlight>
                  <a:srgbClr val="F5F5F5"/>
                </a:highlight>
              </a:rPr>
              <a:t>TEAM :- LOCALHOST: 8080</a:t>
            </a:r>
            <a:endParaRPr lang="en-IN" b="1" u="sng" dirty="0">
              <a:solidFill>
                <a:schemeClr val="bg2">
                  <a:lumMod val="49000"/>
                </a:schemeClr>
              </a:solidFill>
              <a:highlight>
                <a:srgbClr val="F5F5F5"/>
              </a:highlight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F520-787D-39A2-68D6-77A757A8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66;p35">
            <a:extLst>
              <a:ext uri="{FF2B5EF4-FFF2-40B4-BE49-F238E27FC236}">
                <a16:creationId xmlns:a16="http://schemas.microsoft.com/office/drawing/2014/main" id="{9CAB7FB2-3EE5-8F66-452B-5E374ECD3EE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9143640" cy="29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5E805A-AD3A-5701-2859-0D42CA5A74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545DE5-30E3-C734-A408-51FCF376A2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737" y="-158150"/>
            <a:ext cx="1962150" cy="13081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7A321-92AE-3566-E35E-C594BC3AA0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763486"/>
            <a:ext cx="9143639" cy="7576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dirty="0"/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2FD79-F43B-4873-9F44-4867D0C7C2CA}"/>
              </a:ext>
            </a:extLst>
          </p:cNvPr>
          <p:cNvSpPr txBox="1"/>
          <p:nvPr/>
        </p:nvSpPr>
        <p:spPr>
          <a:xfrm flipH="1">
            <a:off x="0" y="2913436"/>
            <a:ext cx="9143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Ambulances face delays due to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real-time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accurate ETA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2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415921" y="920142"/>
            <a:ext cx="2594681" cy="7743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4400" dirty="0"/>
              <a:t>Solution</a:t>
            </a:r>
            <a:endParaRPr lang="en-US" sz="4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42950" y="1430383"/>
            <a:ext cx="3278382" cy="15740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9" name="image69ceb88850860" descr="image69ceb88850864"/>
          <p:cNvPicPr/>
          <p:nvPr/>
        </p:nvPicPr>
        <p:blipFill>
          <a:blip r:embed="rId2"/>
          <a:stretch/>
        </p:blipFill>
        <p:spPr>
          <a:xfrm>
            <a:off x="4985221" y="0"/>
            <a:ext cx="4141269" cy="51435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DA1D2B-8FC4-17D4-15E2-DACBADEE70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2881"/>
            <a:ext cx="1935625" cy="11055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7E003-6C1F-432F-E1F0-ECFA0A62FE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526" y="-134108"/>
            <a:ext cx="2162136" cy="1441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15C300-AA1D-8C8B-45D0-0DA5A6FFC99E}"/>
              </a:ext>
            </a:extLst>
          </p:cNvPr>
          <p:cNvSpPr txBox="1"/>
          <p:nvPr/>
        </p:nvSpPr>
        <p:spPr>
          <a:xfrm>
            <a:off x="587182" y="1772492"/>
            <a:ext cx="39759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Live Ambulance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Traffic-aware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ETA countdown to hospital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1156063" y="1120045"/>
            <a:ext cx="7206737" cy="34040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An ambulance equipped with a smart transmitter enters a </a:t>
            </a:r>
            <a:r>
              <a:rPr lang="en-US" sz="2400" b="0" i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500–1000 m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detection range, triggering the system to preempt traffic and toll controls.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Goal: enable 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automatic priority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—traffic lights turn green, vehicles clear the path, and toll barriers open—to ensure uninterrupted ambulance transit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1003783" y="256860"/>
            <a:ext cx="6914880" cy="853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sng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SITUATION &amp; Goal</a:t>
            </a:r>
            <a:endParaRPr lang="fr-FR" sz="50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F662EB-79C3-554A-2A3D-243BBEE47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981925-E2AD-2B65-E8C4-B0A2E2F11A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104675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1733550" y="527595"/>
            <a:ext cx="8191080" cy="682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sng" strike="noStrike" dirty="0">
                <a:solidFill>
                  <a:schemeClr val="dk1"/>
                </a:solidFill>
                <a:effectLst/>
                <a:uFillTx/>
                <a:latin typeface="Bai Jamjuree"/>
              </a:rPr>
              <a:t>Key Components</a:t>
            </a:r>
            <a:endParaRPr lang="en-US" sz="3200" b="0" u="sng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76280" y="1209957"/>
            <a:ext cx="8191080" cy="34570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System elements: ambulance-mounted device, roadside receivers, traffic signal controller, toll gate actuator, and central coordination unit.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Core technologies include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IoT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 integration, RF/GPS/GSM communication, and microcontroller platforms (Arduino/Node MCU) for real-time control and monitoring.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FC86B4-B74B-B676-8E22-053E737F3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888A36-7BE3-0330-1287-CF1988BD30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98143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sng" strike="noStrike" dirty="0">
                <a:solidFill>
                  <a:schemeClr val="dk1"/>
                </a:solidFill>
                <a:effectLst/>
                <a:uFillTx/>
                <a:latin typeface="Bai Jamjuree"/>
              </a:rPr>
              <a:t>Expected Outcomes</a:t>
            </a:r>
            <a:endParaRPr lang="en-US" sz="3200" b="0" u="sng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6" name="image69ceb8885c047" descr="image69ceb8885c04b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74"/>
          <p:cNvSpPr/>
          <p:nvPr/>
        </p:nvSpPr>
        <p:spPr>
          <a:xfrm>
            <a:off x="202474" y="1428479"/>
            <a:ext cx="8020596" cy="35941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Reduced ambulance response times and improved patient survival through automated priority routing.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System delivers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quicker transit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, fewer manual interventions, and measurable traffic disruption reduction. 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Operational metrics: average delay cut, successful signal preempts, and toll bypass success rates.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4A44BC-F131-DF3F-F458-AC0BE6569F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F42544-57E2-CF0A-FEC7-C4B818C98E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72002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790303" y="1045029"/>
            <a:ext cx="7572497" cy="34790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Ambulance device broadcasts position on entry to </a:t>
            </a:r>
            <a:r>
              <a:rPr lang="en-US" sz="2000" b="0" i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500–1000 m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range. Roadside units receive signal and notify traffic and toll controllers.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Controllers execute preemption: traffic lights turn green and toll barrier opens, enabling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continuous passage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696806" y="334759"/>
            <a:ext cx="6914880" cy="7620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sng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Communication Flow</a:t>
            </a:r>
            <a:endParaRPr lang="fr-FR" sz="50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2054F2-537E-6C03-D2E8-594DC0F893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39B6DF-8E29-B100-58F0-F009332F8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3892550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/>
          <p:cNvSpPr/>
          <p:nvPr/>
        </p:nvSpPr>
        <p:spPr>
          <a:xfrm>
            <a:off x="1971977" y="146185"/>
            <a:ext cx="8191080" cy="66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sng" strike="noStrike" dirty="0">
                <a:solidFill>
                  <a:schemeClr val="dk1"/>
                </a:solidFill>
                <a:effectLst/>
                <a:uFillTx/>
                <a:latin typeface="Bai Jamjuree"/>
              </a:rPr>
              <a:t>Hardware ,Software &amp; Technology</a:t>
            </a:r>
            <a:endParaRPr lang="en-US" sz="3200" b="0" u="sng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04948" y="816155"/>
            <a:ext cx="8030763" cy="37873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Core hardware: ambulance transmitter, roadside receivers, traffic controller interface, toll actuator, and central coordination unit.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dirty="0">
              <a:solidFill>
                <a:schemeClr val="dk1"/>
              </a:solidFill>
              <a:latin typeface="Catamaran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Catamaran"/>
              </a:rPr>
              <a:t>Core Software: Frontend(React ,Google Maps JavaScript API ,</a:t>
            </a:r>
            <a:r>
              <a:rPr lang="en-US" sz="2000" dirty="0" err="1">
                <a:solidFill>
                  <a:schemeClr val="dk1"/>
                </a:solidFill>
                <a:latin typeface="Catamaran"/>
              </a:rPr>
              <a:t>SockJS,JavaScript</a:t>
            </a:r>
            <a:r>
              <a:rPr lang="en-US" sz="2000" dirty="0">
                <a:solidFill>
                  <a:schemeClr val="dk1"/>
                </a:solidFill>
                <a:latin typeface="Catamaran"/>
              </a:rPr>
              <a:t>)  ,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</a:rPr>
              <a:t>Backend (Spring Boot ,Spring WebSocket , Java ,)</a:t>
            </a:r>
            <a:r>
              <a:rPr lang="en-US" sz="2000" dirty="0">
                <a:solidFill>
                  <a:schemeClr val="dk1"/>
                </a:solidFill>
                <a:latin typeface="Catamaran"/>
              </a:rPr>
              <a:t>   Postman Usage(</a:t>
            </a:r>
            <a:r>
              <a:rPr lang="en-IN" sz="2000" dirty="0"/>
              <a:t>Used for API testing , POST /app/location , Send live GPS data , Test    backend endpoints.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000" dirty="0"/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000" dirty="0"/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000" dirty="0"/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4559EA-EB06-DF51-6E33-2636A733DF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D0BB2C-90A8-CB84-95D8-81640096A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3892550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28600" y="627742"/>
            <a:ext cx="4343040" cy="5887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sng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Visuals &amp; Animations</a:t>
            </a:r>
            <a:endParaRPr lang="fr-FR" sz="32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6" name="Google Shape;140;p31"/>
          <p:cNvPicPr/>
          <p:nvPr/>
        </p:nvPicPr>
        <p:blipFill>
          <a:blip r:embed="rId2"/>
          <a:stretch/>
        </p:blipFill>
        <p:spPr>
          <a:xfrm flipH="1">
            <a:off x="4888800" y="0"/>
            <a:ext cx="42552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78376" y="1308099"/>
            <a:ext cx="5597435" cy="30679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Use semi-realistic top/3D city view with smooth ambulance motion, signal-wave effects, and blinking lights.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Animate traffic light change, vehicles clearing, and toll gate opening. Maintain bright blue/red/white palette and clear icons for readability.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BED33F-3AB2-95B3-160A-A34864E357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51321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1F4712-4DE2-BFBA-EDAC-914B1499EC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91604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418011" y="1447820"/>
            <a:ext cx="7944789" cy="3076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Automated ambulance priority integrates communication, control, and visualization to save time and lives.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Pilot deployment can validate performance, with future AI enhancements for predictive routing and city-scale integration.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6100354" cy="13081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sng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Conclusions</a:t>
            </a:r>
            <a:endParaRPr lang="fr-FR" sz="50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819E9-063B-9CA5-34E6-06E80C1A75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438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C70575-31F4-939A-AF78-1F7067A1A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104660"/>
            <a:ext cx="196215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200011" y="1771005"/>
            <a:ext cx="5352840" cy="9541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u="sng" strike="noStrike" dirty="0">
                <a:solidFill>
                  <a:schemeClr val="dk1"/>
                </a:solidFill>
                <a:effectLst/>
                <a:uFillTx/>
                <a:latin typeface="Bai Jamjuree"/>
                <a:ea typeface="Bai Jamjuree"/>
              </a:rPr>
              <a:t>Thanks!</a:t>
            </a:r>
            <a:endParaRPr lang="fr-FR" sz="50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165040" y="1896729"/>
            <a:ext cx="2952360" cy="7078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800" b="1" u="none" strike="noStrike" dirty="0">
              <a:solidFill>
                <a:schemeClr val="dk1"/>
              </a:solidFill>
              <a:effectLst/>
              <a:uFillTx/>
              <a:latin typeface="Catamaran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93;p39"/>
          <p:cNvSpPr/>
          <p:nvPr/>
        </p:nvSpPr>
        <p:spPr>
          <a:xfrm>
            <a:off x="3745080" y="3099960"/>
            <a:ext cx="419040" cy="419040"/>
          </a:xfrm>
          <a:custGeom>
            <a:avLst/>
            <a:gdLst>
              <a:gd name="textAreaLeft" fmla="*/ 0 w 419040"/>
              <a:gd name="textAreaRight" fmla="*/ 419400 w 419040"/>
              <a:gd name="textAreaTop" fmla="*/ 0 h 419040"/>
              <a:gd name="textAreaBottom" fmla="*/ 419400 h 419040"/>
            </a:gdLst>
            <a:ahLst/>
            <a:cxnLst/>
            <a:rect l="textAreaLeft" t="textAreaTop" r="textAreaRight" b="textAreaBottom"/>
            <a:pathLst>
              <a:path w="19982" h="19982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4" name="Google Shape;194;p39"/>
          <p:cNvGrpSpPr/>
          <p:nvPr/>
        </p:nvGrpSpPr>
        <p:grpSpPr>
          <a:xfrm>
            <a:off x="4425480" y="3117960"/>
            <a:ext cx="419040" cy="419040"/>
            <a:chOff x="4425480" y="3117960"/>
            <a:chExt cx="419040" cy="419040"/>
          </a:xfrm>
        </p:grpSpPr>
        <p:sp>
          <p:nvSpPr>
            <p:cNvPr id="95" name="Google Shape;195;p39"/>
            <p:cNvSpPr/>
            <p:nvPr/>
          </p:nvSpPr>
          <p:spPr>
            <a:xfrm>
              <a:off x="4548960" y="3241440"/>
              <a:ext cx="171720" cy="171720"/>
            </a:xfrm>
            <a:custGeom>
              <a:avLst/>
              <a:gdLst>
                <a:gd name="textAreaLeft" fmla="*/ 0 w 171720"/>
                <a:gd name="textAreaRight" fmla="*/ 172080 w 171720"/>
                <a:gd name="textAreaTop" fmla="*/ 0 h 171720"/>
                <a:gd name="textAreaBottom" fmla="*/ 172080 h 171720"/>
              </a:gdLst>
              <a:ahLst/>
              <a:cxnLst/>
              <a:rect l="textAreaLeft" t="textAreaTop" r="textAreaRight" b="textAreaBottom"/>
              <a:pathLst>
                <a:path w="8197" h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96;p39"/>
            <p:cNvSpPr/>
            <p:nvPr/>
          </p:nvSpPr>
          <p:spPr>
            <a:xfrm>
              <a:off x="4474440" y="3166920"/>
              <a:ext cx="320760" cy="320760"/>
            </a:xfrm>
            <a:custGeom>
              <a:avLst/>
              <a:gdLst>
                <a:gd name="textAreaLeft" fmla="*/ 0 w 320760"/>
                <a:gd name="textAreaRight" fmla="*/ 321120 w 3207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5300" h="15299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97;p39"/>
            <p:cNvSpPr/>
            <p:nvPr/>
          </p:nvSpPr>
          <p:spPr>
            <a:xfrm>
              <a:off x="4425480" y="3117960"/>
              <a:ext cx="419040" cy="41904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419040"/>
                <a:gd name="textAreaBottom" fmla="*/ 419400 h 419040"/>
              </a:gdLst>
              <a:ahLst/>
              <a:cxnLst/>
              <a:rect l="textAreaLeft" t="textAreaTop" r="textAreaRight" b="textAreaBottom"/>
              <a:pathLst>
                <a:path w="19984" h="19982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98;p39"/>
            <p:cNvSpPr/>
            <p:nvPr/>
          </p:nvSpPr>
          <p:spPr>
            <a:xfrm>
              <a:off x="4696560" y="3216960"/>
              <a:ext cx="48960" cy="4896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48960"/>
                <a:gd name="textAreaBottom" fmla="*/ 49320 h 48960"/>
              </a:gdLst>
              <a:ahLst/>
              <a:cxnLst/>
              <a:rect l="textAreaLeft" t="textAreaTop" r="textAreaRight" b="textAreaBottom"/>
              <a:pathLst>
                <a:path w="2342" h="2343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199;p39"/>
          <p:cNvGrpSpPr/>
          <p:nvPr/>
        </p:nvGrpSpPr>
        <p:grpSpPr>
          <a:xfrm>
            <a:off x="5117400" y="3117960"/>
            <a:ext cx="419040" cy="419040"/>
            <a:chOff x="5117400" y="3117960"/>
            <a:chExt cx="419040" cy="419040"/>
          </a:xfrm>
        </p:grpSpPr>
        <p:sp>
          <p:nvSpPr>
            <p:cNvPr id="100" name="Google Shape;200;p39"/>
            <p:cNvSpPr/>
            <p:nvPr/>
          </p:nvSpPr>
          <p:spPr>
            <a:xfrm>
              <a:off x="5179680" y="3265920"/>
              <a:ext cx="73440" cy="2206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220680"/>
                <a:gd name="textAreaBottom" fmla="*/ 221040 h 220680"/>
              </a:gdLst>
              <a:ahLst/>
              <a:cxnLst/>
              <a:rect l="textAreaLeft" t="textAreaTop" r="textAreaRight" b="textAreaBottom"/>
              <a:pathLst>
                <a:path w="3514" h="10537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01;p39"/>
            <p:cNvSpPr/>
            <p:nvPr/>
          </p:nvSpPr>
          <p:spPr>
            <a:xfrm>
              <a:off x="5179680" y="3167640"/>
              <a:ext cx="73440" cy="7344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3514" h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02;p39"/>
            <p:cNvSpPr/>
            <p:nvPr/>
          </p:nvSpPr>
          <p:spPr>
            <a:xfrm>
              <a:off x="5277960" y="3265560"/>
              <a:ext cx="196200" cy="22104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21040"/>
                <a:gd name="textAreaBottom" fmla="*/ 221400 h 221040"/>
              </a:gdLst>
              <a:ahLst/>
              <a:cxnLst/>
              <a:rect l="textAreaLeft" t="textAreaTop" r="textAreaRight" b="textAreaBottom"/>
              <a:pathLst>
                <a:path w="9368" h="10556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03;p39"/>
            <p:cNvSpPr/>
            <p:nvPr/>
          </p:nvSpPr>
          <p:spPr>
            <a:xfrm>
              <a:off x="5117400" y="3117960"/>
              <a:ext cx="419040" cy="41904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419040"/>
                <a:gd name="textAreaBottom" fmla="*/ 419400 h 4190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4CB776A-EC95-1B2C-FFE5-2E6D58C8E5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040" y="-244790"/>
            <a:ext cx="1756590" cy="100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22EBB5-57F6-ACBA-E553-1BCFED3D9A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-104661"/>
            <a:ext cx="1962150" cy="1308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DEE6CA-9A08-4835-0C30-8D2DD90E6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21131"/>
            <a:ext cx="9144000" cy="25684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16100A"/>
      </a:lt1>
      <a:dk2>
        <a:srgbClr val="7A0013"/>
      </a:dk2>
      <a:lt2>
        <a:srgbClr val="BD641A"/>
      </a:lt2>
      <a:accent1>
        <a:srgbClr val="91E9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427</Words>
  <Application>Microsoft Office PowerPoint</Application>
  <PresentationFormat>On-screen Show (16:9)</PresentationFormat>
  <Paragraphs>47</Paragraphs>
  <Slides>11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Tech Startup by Slidesgo</vt:lpstr>
      <vt:lpstr>Slidesgo Final Pages</vt:lpstr>
      <vt:lpstr>Smart Ambulance</vt:lpstr>
      <vt:lpstr>PowerPoint Presentation</vt:lpstr>
      <vt:lpstr>PowerPoint Presentation</vt:lpstr>
      <vt:lpstr>SITUATION &amp; Goal</vt:lpstr>
      <vt:lpstr>PowerPoint Presentation</vt:lpstr>
      <vt:lpstr>PowerPoint Presentation</vt:lpstr>
      <vt:lpstr>Communication Flow</vt:lpstr>
      <vt:lpstr>PowerPoint Presentation</vt:lpstr>
      <vt:lpstr>Visuals &amp; Animations</vt:lpstr>
      <vt:lpstr>Conclusions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</dc:creator>
  <cp:lastModifiedBy>Rider King</cp:lastModifiedBy>
  <cp:revision>44</cp:revision>
  <dcterms:modified xsi:type="dcterms:W3CDTF">2026-04-10T14:19:24Z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2026-04-02T18:42:15Z</dcterms:created>
  <dc:creator>Unknown Creator</dc:creator>
  <dc:description/>
  <dc:language>en-US</dc:language>
  <cp:lastModifiedBy>Unknown Creator</cp:lastModifiedBy>
  <dcterms:modified xsi:type="dcterms:W3CDTF">2026-04-02T18:42:15Z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